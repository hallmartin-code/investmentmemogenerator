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Northwind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Battery-free load shifting for commercial buildings</a:t>
            </a:r>
          </a:p>
          <a:p>
            <a:r>
              <a:rPr sz="1800"/>
              <a:t>Seed round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Commercial buildings pay demand charges on their single highest 15-minute peak.</a:t>
            </a:r>
          </a:p>
          <a:p>
            <a:r>
              <a:rPr sz="1800"/>
              <a:t>Those charges are 30-70% of a typical monthly bill.</a:t>
            </a:r>
          </a:p>
          <a:p>
            <a:r>
              <a:rPr sz="1800"/>
              <a:t>Batteries fix it but cost $400k+ per site and take 14 months to install.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Northwind Grid is a control layer that pre-cools and staggers HVAC and</a:t>
            </a:r>
          </a:p>
          <a:p>
            <a:r>
              <a:rPr sz="1800"/>
              <a:t>refrigeration loads to shave the peak without any hardware on site.</a:t>
            </a:r>
          </a:p>
          <a:p>
            <a:r>
              <a:rPr sz="1800"/>
              <a:t>Installs in 3 days over existing BMS protocols (BACnet, Modbus).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Forecast the building's load curve 24h ahead from meter and weather data.</a:t>
            </a:r>
          </a:p>
          <a:p>
            <a:r>
              <a:rPr sz="1800"/>
              <a:t>Solve for a dispatch schedule that keeps every zone inside its comfort band.</a:t>
            </a:r>
          </a:p>
          <a:p>
            <a:r>
              <a:rPr sz="1800"/>
              <a:t>Push setpoints to the BMS. Fall back to native control on any 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41 buildings live across 6 customers.</a:t>
            </a:r>
          </a:p>
          <a:p>
            <a:r>
              <a:rPr sz="1800"/>
              <a:t>$780k ARR, growing 14% month over month for the last 7 months.</a:t>
            </a:r>
          </a:p>
          <a:p>
            <a:r>
              <a:rPr sz="1800"/>
              <a:t>Average verified demand-charge reduction: 22%.</a:t>
            </a:r>
          </a:p>
          <a:p>
            <a:r>
              <a:rPr sz="1800"/>
              <a:t>Net revenue retention 131%. Two customers expanded portfolio-wide.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Shared savings: we take 35% of verified demand-charge reduction,</a:t>
            </a:r>
          </a:p>
          <a:p>
            <a:r>
              <a:rPr sz="1800"/>
              <a:t>measured against an IPMVP Option C baseline.</a:t>
            </a:r>
          </a:p>
          <a:p>
            <a:r>
              <a:rPr sz="1800"/>
              <a:t>No hardware, no capex, no upfront fee. Contracts are 3 years.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5.9M commercial buildings in the US.</a:t>
            </a:r>
          </a:p>
          <a:p>
            <a:r>
              <a:rPr sz="1800"/>
              <a:t>1.1M are over 25,000 sq ft with a BMS we can reach today (SAM).</a:t>
            </a:r>
          </a:p>
          <a:p>
            <a:r>
              <a:rPr sz="1800"/>
              <a:t>At $9k average annual revenue per building that is a $9.9B SAM.</a:t>
            </a:r>
          </a:p>
          <a:p>
            <a:r>
              <a:rPr sz="1800"/>
              <a:t>Source: EIA CBECS 2018, internal pricing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Priya Raman, CEO. 9 years at Enel X leading C&amp;I demand response.</a:t>
            </a:r>
          </a:p>
          <a:p>
            <a:r>
              <a:rPr sz="1800"/>
              <a:t>Tom Achebe, CTO. Built the dispatch optimizer at Voltus.</a:t>
            </a:r>
          </a:p>
          <a:p>
            <a:r>
              <a:rPr sz="1800"/>
              <a:t>Four engineers. No commercial hires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Batteries (Stem, Sunrun): higher savings, 100x the cost and install time.</a:t>
            </a:r>
          </a:p>
          <a:p>
            <a:r>
              <a:rPr sz="1800"/>
              <a:t>Legacy demand response (Enel X, CPower): event-driven, utility-triggered only.</a:t>
            </a:r>
          </a:p>
          <a:p>
            <a:r>
              <a:rPr sz="1800"/>
              <a:t>BMS vendors (JCI, Siemens): bundled, slow to ship, weak forecasting.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Raising $6M Seed.</a:t>
            </a:r>
          </a:p>
          <a:p>
            <a:r>
              <a:rPr sz="1800"/>
              <a:t>60% engineering (protocol coverage, M&amp;V automation).</a:t>
            </a:r>
          </a:p>
          <a:p>
            <a:r>
              <a:rPr sz="1800"/>
              <a:t>25% go-to-market (first 3 AEs, 1 solutions engineer).</a:t>
            </a:r>
          </a:p>
          <a:p>
            <a:r>
              <a:rPr sz="1800"/>
              <a:t>15% working capital.</a:t>
            </a:r>
          </a:p>
          <a:p>
            <a:r>
              <a:rPr sz="1800"/>
              <a:t>24 months of runway to $6M ARR.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